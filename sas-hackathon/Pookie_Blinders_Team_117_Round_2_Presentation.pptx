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95360" y="0"/>
            <a:ext cx="3593592" cy="6858000"/>
          </a:xfrm>
          <a:prstGeom prst="rect">
            <a:avLst/>
          </a:prstGeom>
          <a:solidFill>
            <a:srgbClr val="202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79408" y="731520"/>
            <a:ext cx="2606040" cy="1115568"/>
          </a:xfrm>
          <a:prstGeom prst="roundRect">
            <a:avLst/>
          </a:prstGeom>
          <a:solidFill>
            <a:srgbClr val="A7E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0" y="941832"/>
            <a:ext cx="22860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17233A"/>
                </a:solidFill>
                <a:latin typeface="Aptos"/>
              </a:rPr>
              <a:t>4 DATA LANES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658368"/>
            <a:ext cx="722376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A7E968"/>
                </a:solidFill>
                <a:latin typeface="Aptos"/>
              </a:rPr>
              <a:t>SAS DATA ANALYTICS HACKATHON  · 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89888"/>
            <a:ext cx="7498079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Limit.less
Dataset Analysis &amp;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127248"/>
            <a:ext cx="704088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D2DBE7"/>
                </a:solidFill>
                <a:latin typeface="Aptos"/>
              </a:rPr>
              <a:t>From job-sample signals to defensible training investigations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160520"/>
            <a:ext cx="6995160" cy="18288"/>
          </a:xfrm>
          <a:prstGeom prst="rect">
            <a:avLst/>
          </a:prstGeom>
          <a:solidFill>
            <a:srgbClr val="526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4407408"/>
            <a:ext cx="6675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POOKIE BLINDERS  ·  TEAM ID 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892040"/>
            <a:ext cx="70408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DC9D8"/>
                </a:solidFill>
                <a:latin typeface="Aptos"/>
              </a:rPr>
              <a:t>A reproducible analysis of four independent challenge datasets</a:t>
            </a:r>
          </a:p>
        </p:txBody>
      </p:sp>
      <p:pic>
        <p:nvPicPr>
          <p:cNvPr id="11" name="Picture 10" descr="four-evidence-la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2286000"/>
            <a:ext cx="2971800" cy="2560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25128" y="5212080"/>
            <a:ext cx="2697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Counts are evidence.
Claims need boundaries.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565392"/>
            <a:ext cx="9509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92A0B2"/>
                </a:solidFill>
                <a:latin typeface="Aptos"/>
              </a:rPr>
              <a:t>LIMIT.LESS  ·  POOKIE BLINDERS  ·  TEAM 117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47104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92A0B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E83"/>
                </a:solidFill>
                <a:latin typeface="Aptos"/>
              </a:rPr>
              <a:t>01 · PROBLEM &amp;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C2430"/>
                </a:solidFill>
                <a:latin typeface="Aptos"/>
              </a:rPr>
              <a:t>What should data-career training prioritize?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97864"/>
            <a:ext cx="1097280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6E7E"/>
                </a:solidFill>
                <a:latin typeface="Aptos"/>
              </a:rPr>
              <a:t>The answer must survive missing fields, repeated records, uncertain skill parsing and small samples.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73152" cy="2057400"/>
          </a:xfrm>
          <a:prstGeom prst="rect">
            <a:avLst/>
          </a:prstGeom>
          <a:solidFill>
            <a:srgbClr val="A7E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084832"/>
            <a:ext cx="30540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C2430"/>
                </a:solidFill>
                <a:latin typeface="Aptos"/>
              </a:rPr>
              <a:t>Stakeholder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523744"/>
            <a:ext cx="3054096" cy="1344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E7E"/>
                </a:solidFill>
                <a:latin typeface="Aptos"/>
              </a:rPr>
              <a:t>Help a university placement or training team choose which aggregate skill areas to investigate in a small, measurable learning pilot.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92024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920240"/>
            <a:ext cx="73152" cy="2057400"/>
          </a:xfrm>
          <a:prstGeom prst="rect">
            <a:avLst/>
          </a:prstGeom>
          <a:solidFill>
            <a:srgbClr val="82B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084832"/>
            <a:ext cx="30540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C2430"/>
                </a:solidFill>
                <a:latin typeface="Aptos"/>
              </a:rPr>
              <a:t>Evidence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523744"/>
            <a:ext cx="3054096" cy="1344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E7E"/>
                </a:solidFill>
                <a:latin typeface="Aptos"/>
              </a:rPr>
              <a:t>Job postings describe requested skills; the trait files describe different samples. They are not linked people, jobs or outcomes.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920240"/>
            <a:ext cx="73152" cy="2057400"/>
          </a:xfrm>
          <a:prstGeom prst="rect">
            <a:avLst/>
          </a:prstGeom>
          <a:solidFill>
            <a:srgbClr val="C5A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2084832"/>
            <a:ext cx="30540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C2430"/>
                </a:solidFill>
                <a:latin typeface="Aptos"/>
              </a:rPr>
              <a:t>Research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523744"/>
            <a:ext cx="3054096" cy="1344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E7E"/>
                </a:solidFill>
                <a:latin typeface="Aptos"/>
              </a:rPr>
              <a:t>Which role and skill patterns are sufficiently stable to guide a training investigation—and what needs more evidence first?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106984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7233A"/>
                </a:solidFill>
                <a:latin typeface="Aptos"/>
              </a:rPr>
              <a:t>We do not predict who gets hired, promise salary gains, or use personality traits to screen individuals.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65392"/>
            <a:ext cx="9509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290A0"/>
                </a:solidFill>
                <a:latin typeface="Aptos"/>
              </a:rPr>
              <a:t>LIMIT.LESS  ·  POOKIE BLINDERS  ·  TEAM 117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47104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8290A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E83"/>
                </a:solidFill>
                <a:latin typeface="Aptos"/>
              </a:rPr>
              <a:t>02 · DATA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C2430"/>
                </a:solidFill>
                <a:latin typeface="Aptos"/>
              </a:rPr>
              <a:t>Four datasets. Four analytical lanes.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97864"/>
            <a:ext cx="1097280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6E7E"/>
                </a:solidFill>
                <a:latin typeface="Aptos"/>
              </a:rPr>
              <a:t>Keep observation units separate; only compare at an explicitly reviewed concept level.</a:t>
            </a:r>
          </a:p>
        </p:txBody>
      </p:sp>
      <p:pic>
        <p:nvPicPr>
          <p:cNvPr id="5" name="Picture 4" descr="four-evidence-la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83080"/>
            <a:ext cx="1001268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565392"/>
            <a:ext cx="9509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290A0"/>
                </a:solidFill>
                <a:latin typeface="Aptos"/>
              </a:rPr>
              <a:t>LIMIT.LESS  ·  POOKIE BLINDERS  ·  TEAM 117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8290A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E83"/>
                </a:solidFill>
                <a:latin typeface="Aptos"/>
              </a:rPr>
              <a:t>03 · DATA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C2430"/>
                </a:solidFill>
                <a:latin typeface="Aptos"/>
              </a:rPr>
              <a:t>The dataset sizes are unequal—and the missingness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97864"/>
            <a:ext cx="1097280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6E7E"/>
                </a:solidFill>
                <a:latin typeface="Aptos"/>
              </a:rPr>
              <a:t>Descriptive counts were recalculated from the supplied CSV and Excel files.</a:t>
            </a:r>
          </a:p>
        </p:txBody>
      </p:sp>
      <p:pic>
        <p:nvPicPr>
          <p:cNvPr id="5" name="Picture 4" descr="reproduced-source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745236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41080" y="1874519"/>
            <a:ext cx="260604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5672" y="1984248"/>
            <a:ext cx="227685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A7E968"/>
                </a:solidFill>
                <a:latin typeface="Aptos"/>
              </a:rPr>
              <a:t>15,841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5672" y="2432303"/>
            <a:ext cx="2276856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C2430"/>
                </a:solidFill>
                <a:latin typeface="Aptos"/>
              </a:rPr>
              <a:t>Analytics Jobs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3090672"/>
            <a:ext cx="260604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05672" y="3200400"/>
            <a:ext cx="227685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82B7E3"/>
                </a:solidFill>
                <a:latin typeface="Aptos"/>
              </a:rPr>
              <a:t>1,602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5672" y="3648456"/>
            <a:ext cx="2276856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C2430"/>
                </a:solidFill>
                <a:latin typeface="Aptos"/>
              </a:rPr>
              <a:t>DataScience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4306824"/>
            <a:ext cx="260604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4416552"/>
            <a:ext cx="227685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C5A3ED"/>
                </a:solidFill>
                <a:latin typeface="Aptos"/>
              </a:rPr>
              <a:t>139 / 161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5672" y="4864608"/>
            <a:ext cx="2276856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C2430"/>
                </a:solidFill>
                <a:latin typeface="Aptos"/>
              </a:rPr>
              <a:t>JDS / SDS observations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5577840"/>
            <a:ext cx="26517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99883"/>
                </a:solidFill>
                <a:latin typeface="Aptos"/>
              </a:rPr>
              <a:t>13,806 skill cells contain `...`
Possible truncation needs review.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65392"/>
            <a:ext cx="9509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290A0"/>
                </a:solidFill>
                <a:latin typeface="Aptos"/>
              </a:rPr>
              <a:t>LIMIT.LESS  ·  POOKIE BLINDERS  ·  TEAM 117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47104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8290A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E83"/>
                </a:solidFill>
                <a:latin typeface="Aptos"/>
              </a:rPr>
              <a:t>04 · MARKET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C2430"/>
                </a:solidFill>
                <a:latin typeface="Aptos"/>
              </a:rPr>
              <a:t>What the supplied postings actually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97864"/>
            <a:ext cx="1097280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6E7E"/>
                </a:solidFill>
                <a:latin typeface="Aptos"/>
              </a:rPr>
              <a:t>Rates use exact comma-separated tokens in the available `key_skills` field—not extracted job descriptions.</a:t>
            </a:r>
          </a:p>
        </p:txBody>
      </p:sp>
      <p:pic>
        <p:nvPicPr>
          <p:cNvPr id="5" name="Picture 4" descr="reproduced-analysis-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91640"/>
            <a:ext cx="731520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828800"/>
            <a:ext cx="3200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75320" y="1828800"/>
            <a:ext cx="73152" cy="1143000"/>
          </a:xfrm>
          <a:prstGeom prst="rect">
            <a:avLst/>
          </a:prstGeom>
          <a:solidFill>
            <a:srgbClr val="82B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94776" y="1993392"/>
            <a:ext cx="27797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2430"/>
                </a:solidFill>
                <a:latin typeface="Aptos"/>
              </a:rPr>
              <a:t>SQL · 5.78%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94776" y="2432304"/>
            <a:ext cx="2779776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6E7E"/>
                </a:solidFill>
                <a:latin typeface="Aptos"/>
              </a:rPr>
              <a:t>915 / 15,840 available skill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3200400"/>
            <a:ext cx="3200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5320" y="3200400"/>
            <a:ext cx="73152" cy="1143000"/>
          </a:xfrm>
          <a:prstGeom prst="rect">
            <a:avLst/>
          </a:prstGeom>
          <a:solidFill>
            <a:srgbClr val="C5A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94776" y="3364992"/>
            <a:ext cx="27797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2430"/>
                </a:solidFill>
                <a:latin typeface="Aptos"/>
              </a:rPr>
              <a:t>Python · 5.30%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94776" y="3803904"/>
            <a:ext cx="2779776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6E7E"/>
                </a:solidFill>
                <a:latin typeface="Aptos"/>
              </a:rPr>
              <a:t>840 / 15,840 available skill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4572000"/>
            <a:ext cx="3200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4572000"/>
            <a:ext cx="73152" cy="1234440"/>
          </a:xfrm>
          <a:prstGeom prst="rect">
            <a:avLst/>
          </a:prstGeom>
          <a:solidFill>
            <a:srgbClr val="A7E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4776" y="4736592"/>
            <a:ext cx="27797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2430"/>
                </a:solidFill>
                <a:latin typeface="Aptos"/>
              </a:rPr>
              <a:t>Bengaluru · 23.7%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5175504"/>
            <a:ext cx="2779776" cy="521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F6E7E"/>
                </a:solidFill>
                <a:latin typeface="Aptos"/>
              </a:rPr>
              <a:t>3,753 / 15,841 rows use first listed 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65392"/>
            <a:ext cx="9509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290A0"/>
                </a:solidFill>
                <a:latin typeface="Aptos"/>
              </a:rPr>
              <a:t>LIMIT.LESS  ·  POOKIE BLINDERS  ·  TEAM 117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47104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8290A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7E968"/>
                </a:solidFill>
                <a:latin typeface="Aptos"/>
              </a:rPr>
              <a:t>05 · WEIGHTING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93,005 is a supplied field sum—not a verified vacancy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97864"/>
            <a:ext cx="1097280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DC9D8"/>
                </a:solidFill>
                <a:latin typeface="Aptos"/>
              </a:rPr>
              <a:t>DataScience Jobs has no skill field; do not multiply its weights into the separate Analytics Jobs sample.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965960"/>
            <a:ext cx="2560320" cy="1060704"/>
          </a:xfrm>
          <a:prstGeom prst="roundRect">
            <a:avLst/>
          </a:prstGeom>
          <a:solidFill>
            <a:srgbClr val="24334C"/>
          </a:solidFill>
          <a:ln w="12700"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075688"/>
            <a:ext cx="223113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82B7E3"/>
                </a:solidFill>
                <a:latin typeface="Aptos"/>
              </a:rPr>
              <a:t>1,602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523744"/>
            <a:ext cx="2231136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source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965960"/>
            <a:ext cx="2560320" cy="1060704"/>
          </a:xfrm>
          <a:prstGeom prst="roundRect">
            <a:avLst/>
          </a:prstGeom>
          <a:solidFill>
            <a:srgbClr val="24334C"/>
          </a:solidFill>
          <a:ln w="12700"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075688"/>
            <a:ext cx="223113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A7E968"/>
                </a:solidFill>
                <a:latin typeface="Aptos"/>
              </a:rPr>
              <a:t>1,460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2523744"/>
            <a:ext cx="2231136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unique references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9088" y="1965960"/>
            <a:ext cx="2560320" cy="1060704"/>
          </a:xfrm>
          <a:prstGeom prst="roundRect">
            <a:avLst/>
          </a:prstGeom>
          <a:solidFill>
            <a:srgbClr val="24334C"/>
          </a:solidFill>
          <a:ln w="12700"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2075688"/>
            <a:ext cx="223113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C5A3ED"/>
                </a:solidFill>
                <a:latin typeface="Aptos"/>
              </a:rPr>
              <a:t>93,005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523744"/>
            <a:ext cx="2231136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Σ num_of_jobs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17152" y="1965960"/>
            <a:ext cx="2560320" cy="1060704"/>
          </a:xfrm>
          <a:prstGeom prst="roundRect">
            <a:avLst/>
          </a:prstGeom>
          <a:solidFill>
            <a:srgbClr val="24334C"/>
          </a:solidFill>
          <a:ln w="12700"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81744" y="2075688"/>
            <a:ext cx="223113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99883"/>
                </a:solidFill>
                <a:latin typeface="Aptos"/>
              </a:rPr>
              <a:t>3–4,200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81744" y="2523744"/>
            <a:ext cx="2231136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row range · median 22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703320"/>
            <a:ext cx="4846320" cy="1554480"/>
          </a:xfrm>
          <a:prstGeom prst="roundRect">
            <a:avLst/>
          </a:prstGeom>
          <a:solidFill>
            <a:srgbClr val="24334C"/>
          </a:solidFill>
          <a:ln w="12700"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703320"/>
            <a:ext cx="73152" cy="1554480"/>
          </a:xfrm>
          <a:prstGeom prst="rect">
            <a:avLst/>
          </a:prstGeom>
          <a:solidFill>
            <a:srgbClr val="82B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3867911"/>
            <a:ext cx="44256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Company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4306824"/>
            <a:ext cx="4425696" cy="8412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2DBE7"/>
                </a:solidFill>
                <a:latin typeface="Aptos"/>
              </a:rPr>
              <a:t>TCS supplied-weight sum: 9,064 (9.7% of 93,005). Field meaning remains to be verified.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703320"/>
            <a:ext cx="4846320" cy="1554480"/>
          </a:xfrm>
          <a:prstGeom prst="roundRect">
            <a:avLst/>
          </a:prstGeom>
          <a:solidFill>
            <a:srgbClr val="24334C"/>
          </a:solidFill>
          <a:ln w="12700"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703320"/>
            <a:ext cx="73152" cy="1554480"/>
          </a:xfrm>
          <a:prstGeom prst="rect">
            <a:avLst/>
          </a:prstGeom>
          <a:solidFill>
            <a:srgbClr val="C5A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3867911"/>
            <a:ext cx="44256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Title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4306824"/>
            <a:ext cx="4425696" cy="8412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2DBE7"/>
                </a:solidFill>
                <a:latin typeface="Aptos"/>
              </a:rPr>
              <a:t>Business Analyst supplied-weight sum: 32,843. It is not a count of validated distinct vacancies.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715000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D2DBE7"/>
                </a:solidFill>
                <a:latin typeface="Aptos"/>
              </a:rPr>
              <a:t>142 excess rows have repeated reference numbers. They are retained until identifier semantics are confirmed.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65392"/>
            <a:ext cx="9509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92A0B2"/>
                </a:solidFill>
                <a:latin typeface="Aptos"/>
              </a:rPr>
              <a:t>LIMIT.LESS  ·  POOKIE BLINDERS  ·  TEAM 117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47104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92A0B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E83"/>
                </a:solidFill>
                <a:latin typeface="Aptos"/>
              </a:rPr>
              <a:t>06 · MATHEMATICAL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C2430"/>
                </a:solidFill>
                <a:latin typeface="Aptos"/>
              </a:rPr>
              <a:t>Show the arithmetic, denominator and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97864"/>
            <a:ext cx="1097280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6E7E"/>
                </a:solidFill>
                <a:latin typeface="Aptos"/>
              </a:rPr>
              <a:t>A score is only interpretable when the question and observation unit are explicit.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66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73152" cy="1371600"/>
          </a:xfrm>
          <a:prstGeom prst="rect">
            <a:avLst/>
          </a:prstGeom>
          <a:solidFill>
            <a:srgbClr val="A7E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93392"/>
            <a:ext cx="474573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2430"/>
                </a:solidFill>
                <a:latin typeface="Aptos"/>
              </a:rPr>
              <a:t>Skill mention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432304"/>
            <a:ext cx="4745736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6E7E"/>
                </a:solidFill>
                <a:latin typeface="Aptos"/>
              </a:rPr>
              <a:t>pₖg = Σᵢ xᵢₖ / |E_g|
Rows with skill k ÷ rows with usable skill text in group 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166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73152" cy="1371600"/>
          </a:xfrm>
          <a:prstGeom prst="rect">
            <a:avLst/>
          </a:prstGeom>
          <a:solidFill>
            <a:srgbClr val="82B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1993392"/>
            <a:ext cx="474573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2430"/>
                </a:solidFill>
                <a:latin typeface="Aptos"/>
              </a:rPr>
              <a:t>Supplied-weight 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432304"/>
            <a:ext cx="4745736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6E7E"/>
                </a:solidFill>
                <a:latin typeface="Aptos"/>
              </a:rPr>
              <a:t>W_h = Σᵢ num_of_jobsᵢ
Grouped by company/title; shown separately from source-row count.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51663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20440"/>
            <a:ext cx="73152" cy="1463040"/>
          </a:xfrm>
          <a:prstGeom prst="rect">
            <a:avLst/>
          </a:prstGeom>
          <a:solidFill>
            <a:srgbClr val="C5A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685032"/>
            <a:ext cx="474573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2430"/>
                </a:solidFill>
                <a:latin typeface="Aptos"/>
              </a:rPr>
              <a:t>Trait group difference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4123944"/>
            <a:ext cx="4745736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F6E7E"/>
                </a:solidFill>
                <a:latin typeface="Aptos"/>
              </a:rPr>
              <a:t>Δₖ = mean(zₖ | y=1) − mean(zₖ | y=0)
`r` = point-biserial correlation; Cohen's `d` = Δ / sₚ (pooled SD).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20440"/>
            <a:ext cx="51663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20440"/>
            <a:ext cx="73152" cy="1463040"/>
          </a:xfrm>
          <a:prstGeom prst="rect">
            <a:avLst/>
          </a:prstGeom>
          <a:solidFill>
            <a:srgbClr val="E99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3685032"/>
            <a:ext cx="474573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2430"/>
                </a:solidFill>
                <a:latin typeface="Aptos"/>
              </a:rPr>
              <a:t>SQL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4123944"/>
            <a:ext cx="4745736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F6E7E"/>
                </a:solidFill>
                <a:latin typeface="Aptos"/>
              </a:rPr>
              <a:t>915 ÷ 15,840 = 0.0578 = 5.78%
95% Wilson interval ≈ 5.42–6.15% under independent rows; not a national estimate.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440680"/>
            <a:ext cx="105156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233A"/>
                </a:solidFill>
                <a:latin typeface="Aptos"/>
              </a:rPr>
              <a:t>A title/company match across files is not a valid join. No shared job, employer, person or time key is documented.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65392"/>
            <a:ext cx="9509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290A0"/>
                </a:solidFill>
                <a:latin typeface="Aptos"/>
              </a:rPr>
              <a:t>LIMIT.LESS  ·  POOKIE BLINDERS  ·  TEAM 117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47104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8290A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E83"/>
                </a:solidFill>
                <a:latin typeface="Aptos"/>
              </a:rPr>
              <a:t>07 · SEPARATE TRAIT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C2430"/>
                </a:solidFill>
                <a:latin typeface="Aptos"/>
              </a:rPr>
              <a:t>Associations can generate questions—not causal advice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97864"/>
            <a:ext cx="1097280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6E7E"/>
                </a:solidFill>
                <a:latin typeface="Aptos"/>
              </a:rPr>
              <a:t>Group means were recomputed; labels and repeated IDs require careful interpretation.</a:t>
            </a:r>
          </a:p>
        </p:txBody>
      </p:sp>
      <p:pic>
        <p:nvPicPr>
          <p:cNvPr id="5" name="Picture 4" descr="reproduced-trait-associ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768096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95360" y="1828800"/>
            <a:ext cx="28346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95360" y="1828800"/>
            <a:ext cx="73152" cy="1508760"/>
          </a:xfrm>
          <a:prstGeom prst="rect">
            <a:avLst/>
          </a:prstGeom>
          <a:solidFill>
            <a:srgbClr val="C5A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14816" y="1993392"/>
            <a:ext cx="241401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2430"/>
                </a:solidFill>
                <a:latin typeface="Aptos"/>
              </a:rPr>
              <a:t>JDS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14816" y="2432304"/>
            <a:ext cx="2414016" cy="795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F6E7E"/>
                </a:solidFill>
                <a:latin typeface="Aptos"/>
              </a:rPr>
              <a:t>Largest observed mean differences: dashboard/storytelling (+1.03), maths/statistics (+0.88), coding (+0.79).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3657600"/>
            <a:ext cx="28346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3657600"/>
            <a:ext cx="73152" cy="1508760"/>
          </a:xfrm>
          <a:prstGeom prst="rect">
            <a:avLst/>
          </a:prstGeom>
          <a:solidFill>
            <a:srgbClr val="82B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14816" y="3822191"/>
            <a:ext cx="241401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2430"/>
                </a:solidFill>
                <a:latin typeface="Aptos"/>
              </a:rPr>
              <a:t>SDS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14816" y="4261104"/>
            <a:ext cx="2414016" cy="795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F6E7E"/>
                </a:solidFill>
                <a:latin typeface="Aptos"/>
              </a:rPr>
              <a:t>Aggregate personality associations only. Never feed SDS into learner, applicant or employee scoring.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5486400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99883"/>
                </a:solidFill>
                <a:latin typeface="Aptos"/>
              </a:rPr>
              <a:t>No intervention effect is proven.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65392"/>
            <a:ext cx="9509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290A0"/>
                </a:solidFill>
                <a:latin typeface="Aptos"/>
              </a:rPr>
              <a:t>LIMIT.LESS  ·  POOKIE BLINDERS  ·  TEAM 117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47104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8290A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7E968"/>
                </a:solidFill>
                <a:latin typeface="Aptos"/>
              </a:rPr>
              <a:t>08 · SCORING &amp; SUGGESTIONS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No opaque blended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97864"/>
            <a:ext cx="1097280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DC9D8"/>
                </a:solidFill>
                <a:latin typeface="Aptos"/>
              </a:rPr>
              <a:t>The engine is a transparent evidence scorecard plus decision gates—not a 0–100 employability score.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28800"/>
            <a:ext cx="3401568" cy="1078992"/>
          </a:xfrm>
          <a:prstGeom prst="roundRect">
            <a:avLst/>
          </a:prstGeom>
          <a:solidFill>
            <a:srgbClr val="24334C"/>
          </a:solidFill>
          <a:ln w="12700"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828800"/>
            <a:ext cx="73152" cy="1078992"/>
          </a:xfrm>
          <a:prstGeom prst="rect">
            <a:avLst/>
          </a:prstGeom>
          <a:solidFill>
            <a:srgbClr val="A7E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993392"/>
            <a:ext cx="298094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Demand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432304"/>
            <a:ext cx="2980944" cy="365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2DBE7"/>
                </a:solidFill>
                <a:latin typeface="Aptos"/>
              </a:rPr>
              <a:t>mentions ÷ eligible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4568" y="1828800"/>
            <a:ext cx="3401568" cy="1078992"/>
          </a:xfrm>
          <a:prstGeom prst="roundRect">
            <a:avLst/>
          </a:prstGeom>
          <a:solidFill>
            <a:srgbClr val="24334C"/>
          </a:solidFill>
          <a:ln w="12700"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44568" y="1828800"/>
            <a:ext cx="73152" cy="1078992"/>
          </a:xfrm>
          <a:prstGeom prst="rect">
            <a:avLst/>
          </a:prstGeom>
          <a:solidFill>
            <a:srgbClr val="82B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993392"/>
            <a:ext cx="298094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2432304"/>
            <a:ext cx="2980944" cy="365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2DBE7"/>
                </a:solidFill>
                <a:latin typeface="Aptos"/>
              </a:rPr>
              <a:t>percentile within source/group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9328" y="1828800"/>
            <a:ext cx="3401568" cy="1078992"/>
          </a:xfrm>
          <a:prstGeom prst="roundRect">
            <a:avLst/>
          </a:prstGeom>
          <a:solidFill>
            <a:srgbClr val="24334C"/>
          </a:solidFill>
          <a:ln w="12700"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39328" y="1828800"/>
            <a:ext cx="73152" cy="1078992"/>
          </a:xfrm>
          <a:prstGeom prst="rect">
            <a:avLst/>
          </a:prstGeom>
          <a:solidFill>
            <a:srgbClr val="C5A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58784" y="1993392"/>
            <a:ext cx="298094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Stability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58784" y="2432304"/>
            <a:ext cx="2980944" cy="365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2DBE7"/>
                </a:solidFill>
                <a:latin typeface="Aptos"/>
              </a:rPr>
              <a:t>top-k scenarios ÷ all scenarios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154680"/>
            <a:ext cx="3401568" cy="1078992"/>
          </a:xfrm>
          <a:prstGeom prst="roundRect">
            <a:avLst/>
          </a:prstGeom>
          <a:solidFill>
            <a:srgbClr val="24334C"/>
          </a:solidFill>
          <a:ln w="12700"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3154680"/>
            <a:ext cx="73152" cy="1078992"/>
          </a:xfrm>
          <a:prstGeom prst="rect">
            <a:avLst/>
          </a:prstGeom>
          <a:solidFill>
            <a:srgbClr val="E99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319272"/>
            <a:ext cx="298094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3758184"/>
            <a:ext cx="2980944" cy="365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2DBE7"/>
                </a:solidFill>
                <a:latin typeface="Aptos"/>
              </a:rPr>
              <a:t>usable text ÷ all group rows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44568" y="3154680"/>
            <a:ext cx="3401568" cy="1078992"/>
          </a:xfrm>
          <a:prstGeom prst="roundRect">
            <a:avLst/>
          </a:prstGeom>
          <a:solidFill>
            <a:srgbClr val="24334C"/>
          </a:solidFill>
          <a:ln w="12700"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44568" y="3154680"/>
            <a:ext cx="73152" cy="1078992"/>
          </a:xfrm>
          <a:prstGeom prst="rect">
            <a:avLst/>
          </a:prstGeom>
          <a:solidFill>
            <a:srgbClr val="A7E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64024" y="3319272"/>
            <a:ext cx="298094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Extraction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4024" y="3758184"/>
            <a:ext cx="2980944" cy="365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2DBE7"/>
                </a:solidFill>
                <a:latin typeface="Aptos"/>
              </a:rPr>
              <a:t>held-out precision / recall / F1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9328" y="3154680"/>
            <a:ext cx="3401568" cy="1078992"/>
          </a:xfrm>
          <a:prstGeom prst="roundRect">
            <a:avLst/>
          </a:prstGeom>
          <a:solidFill>
            <a:srgbClr val="24334C"/>
          </a:solidFill>
          <a:ln w="12700"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39328" y="3154680"/>
            <a:ext cx="73152" cy="1078992"/>
          </a:xfrm>
          <a:prstGeom prst="rect">
            <a:avLst/>
          </a:prstGeom>
          <a:solidFill>
            <a:srgbClr val="82B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58784" y="3319272"/>
            <a:ext cx="298094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Weight influence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58784" y="3758184"/>
            <a:ext cx="2980944" cy="365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2DBE7"/>
                </a:solidFill>
                <a:latin typeface="Aptos"/>
              </a:rPr>
              <a:t>weighted vs row-count ranks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800600"/>
            <a:ext cx="105613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Example robustness: top-10 in 8 of 10 predeclared scenarios = 80% scenario stability—not an 80% probability of importance.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5440680"/>
            <a:ext cx="10835640" cy="594360"/>
          </a:xfrm>
          <a:prstGeom prst="roundRect">
            <a:avLst/>
          </a:prstGeom>
          <a:solidFill>
            <a:srgbClr val="24334C"/>
          </a:solidFill>
          <a:ln w="12700">
            <a:solidFill>
              <a:srgbClr val="34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559552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A7E968"/>
                </a:solidFill>
                <a:latin typeface="Aptos"/>
              </a:rPr>
              <a:t>SOURCE CHECK  →  REVIEW / COLLECT  →  SCENARIO GATE  →  HUMAN REVIEW  →  PILOT CANDIDATE OR DEFER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65392"/>
            <a:ext cx="9509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92A0B2"/>
                </a:solidFill>
                <a:latin typeface="Aptos"/>
              </a:rPr>
              <a:t>LIMIT.LESS  ·  POOKIE BLINDERS  ·  TEAM 117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47104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92A0B2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E83"/>
                </a:solidFill>
                <a:latin typeface="Aptos"/>
              </a:rPr>
              <a:t>09 · EVIDENCE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C2430"/>
                </a:solidFill>
                <a:latin typeface="Aptos"/>
              </a:rPr>
              <a:t>A suggestion is earned through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97864"/>
            <a:ext cx="1097280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6E7E"/>
                </a:solidFill>
                <a:latin typeface="Aptos"/>
              </a:rPr>
              <a:t>If a source or measurement gate fails, the system requests evidence instead of manufacturing a recommendation.</a:t>
            </a:r>
          </a:p>
        </p:txBody>
      </p:sp>
      <p:pic>
        <p:nvPicPr>
          <p:cNvPr id="5" name="Picture 4" descr="evidence-action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64208"/>
            <a:ext cx="7726679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28800"/>
            <a:ext cx="2697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32520" y="1828800"/>
            <a:ext cx="73152" cy="1143000"/>
          </a:xfrm>
          <a:prstGeom prst="rect">
            <a:avLst/>
          </a:prstGeom>
          <a:solidFill>
            <a:srgbClr val="A7E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51976" y="1993392"/>
            <a:ext cx="227685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C2430"/>
                </a:solidFill>
                <a:latin typeface="Aptos"/>
              </a:rPr>
              <a:t>Prioritize a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2432304"/>
            <a:ext cx="2276856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F6E7E"/>
                </a:solidFill>
                <a:latin typeface="Aptos"/>
              </a:rPr>
              <a:t>Only supported, reversible aggregate investigation.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3218688"/>
            <a:ext cx="2697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32520" y="3218688"/>
            <a:ext cx="73152" cy="1143000"/>
          </a:xfrm>
          <a:prstGeom prst="rect">
            <a:avLst/>
          </a:prstGeom>
          <a:solidFill>
            <a:srgbClr val="C5A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1976" y="3383280"/>
            <a:ext cx="227685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C2430"/>
                </a:solidFill>
                <a:latin typeface="Aptos"/>
              </a:rPr>
              <a:t>Review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1976" y="3822191"/>
            <a:ext cx="2276856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F6E7E"/>
                </a:solidFill>
                <a:latin typeface="Aptos"/>
              </a:rPr>
              <a:t>A phrase, alias or duplicate choice changes the result.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4608576"/>
            <a:ext cx="2697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32520" y="4608576"/>
            <a:ext cx="73152" cy="1143000"/>
          </a:xfrm>
          <a:prstGeom prst="rect">
            <a:avLst/>
          </a:prstGeom>
          <a:solidFill>
            <a:srgbClr val="E99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1976" y="4773168"/>
            <a:ext cx="227685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C2430"/>
                </a:solidFill>
                <a:latin typeface="Aptos"/>
              </a:rPr>
              <a:t>Collect / defer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1976" y="5212080"/>
            <a:ext cx="2276856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F6E7E"/>
                </a:solidFill>
                <a:latin typeface="Aptos"/>
              </a:rPr>
              <a:t>Clarify units, IDs, coverage or validation first.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65392"/>
            <a:ext cx="9509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290A0"/>
                </a:solidFill>
                <a:latin typeface="Aptos"/>
              </a:rPr>
              <a:t>LIMIT.LESS  ·  POOKIE BLINDERS  ·  TEAM 117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47104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8290A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E83"/>
                </a:solidFill>
                <a:latin typeface="Aptos"/>
              </a:rPr>
              <a:t>10 ·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C2430"/>
                </a:solidFill>
                <a:latin typeface="Aptos"/>
              </a:rPr>
              <a:t>What we can responsibly recommend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97864"/>
            <a:ext cx="1097280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6E7E"/>
                </a:solidFill>
                <a:latin typeface="Aptos"/>
              </a:rPr>
              <a:t>A descriptive signal is not yet a validated curriculum ranking.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75103"/>
            <a:ext cx="109728" cy="109728"/>
          </a:xfrm>
          <a:prstGeom prst="roundRect">
            <a:avLst/>
          </a:prstGeom>
          <a:solidFill>
            <a:srgbClr val="A7E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1874519"/>
            <a:ext cx="10296144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C2430"/>
                </a:solidFill>
                <a:latin typeface="Aptos"/>
              </a:rPr>
              <a:t>Investigate SQL, Python and communication/storytelling as candidate learning topics; validate skill extraction before prioritizing a module.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9503"/>
            <a:ext cx="109728" cy="109728"/>
          </a:xfrm>
          <a:prstGeom prst="roundRect">
            <a:avLst/>
          </a:prstGeom>
          <a:solidFill>
            <a:srgbClr val="82B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788920"/>
            <a:ext cx="10296144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C2430"/>
                </a:solidFill>
                <a:latin typeface="Aptos"/>
              </a:rPr>
              <a:t>Keep the supplied job-weight totals separate until the `num_of_jobs` definition is confirmed.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03904"/>
            <a:ext cx="109728" cy="109728"/>
          </a:xfrm>
          <a:prstGeom prst="roundRect">
            <a:avLst/>
          </a:prstGeom>
          <a:solidFill>
            <a:srgbClr val="C5A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3703320"/>
            <a:ext cx="10296144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C2430"/>
                </a:solidFill>
                <a:latin typeface="Aptos"/>
              </a:rPr>
              <a:t>Use JDS only for exploratory skill-development questions; keep SDS out of any individual recommendation or screening path.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18304"/>
            <a:ext cx="109728" cy="109728"/>
          </a:xfrm>
          <a:prstGeom prst="roundRect">
            <a:avLst/>
          </a:prstGeom>
          <a:solidFill>
            <a:srgbClr val="E99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4617720"/>
            <a:ext cx="10296144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C2430"/>
                </a:solidFill>
                <a:latin typeface="Aptos"/>
              </a:rPr>
              <a:t>If quality and stability gates pass, run a small voluntary pilot with baseline and follow-up skill assessments, completion and learner feedback.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0644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233A"/>
                </a:solidFill>
                <a:latin typeface="Aptos"/>
              </a:rPr>
              <a:t>A short pilot can test feasibility and learning signals—not employment or salary impact.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65392"/>
            <a:ext cx="9509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290A0"/>
                </a:solidFill>
                <a:latin typeface="Aptos"/>
              </a:rPr>
              <a:t>LIMIT.LESS  ·  POOKIE BLINDERS  ·  TEAM 117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47104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8290A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7E968"/>
                </a:solidFill>
                <a:latin typeface="Aptos"/>
              </a:rPr>
              <a:t>11 · EVIDENCE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What is established—and what still needs a run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97864"/>
            <a:ext cx="1097280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DC9D8"/>
                </a:solidFill>
                <a:latin typeface="Aptos"/>
              </a:rPr>
              <a:t>The presentation does not claim the proposed SAS integration or earlier model metrics have been validated.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83080"/>
          <a:ext cx="106527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852160"/>
                <a:gridCol w="1508760"/>
              </a:tblGrid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Evidence area</a:t>
                      </a:r>
                    </a:p>
                  </a:txBody>
                  <a:tcPr marL="82296" marR="64008" marT="36576" marB="36576" anchor="ctr">
                    <a:solidFill>
                      <a:srgbClr val="304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Current evidence</a:t>
                      </a:r>
                    </a:p>
                  </a:txBody>
                  <a:tcPr marL="82296" marR="64008" marT="36576" marB="36576" anchor="ctr">
                    <a:solidFill>
                      <a:srgbClr val="304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82296" marR="64008" marT="36576" marB="36576" anchor="ctr">
                    <a:solidFill>
                      <a:srgbClr val="30415E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Aptos"/>
                        </a:rPr>
                        <a:t>Source counts and descriptive summaries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Aptos"/>
                        </a:rPr>
                        <a:t>Recomputed from supplied CSV/XLSX files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Aptos"/>
                        </a:rPr>
                        <a:t>Available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Aptos"/>
                        </a:rPr>
                        <a:t>Exact-token rates and trait associations</a:t>
                      </a:r>
                    </a:p>
                  </a:txBody>
                  <a:tcPr marL="82296" marR="64008"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Aptos"/>
                        </a:rPr>
                        <a:t>Formulas, units and denominators documented</a:t>
                      </a:r>
                    </a:p>
                  </a:txBody>
                  <a:tcPr marL="82296" marR="64008"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Aptos"/>
                        </a:rPr>
                        <a:t>Available</a:t>
                      </a:r>
                    </a:p>
                  </a:txBody>
                  <a:tcPr marL="82296" marR="64008" marT="36576" marB="36576" anchor="ctr">
                    <a:solidFill>
                      <a:srgbClr val="F3F6F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Aptos"/>
                        </a:rPr>
                        <a:t>SAS / VFL execution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Aptos"/>
                        </a:rPr>
                        <a:t>Programs exist; no run receipt in this report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Aptos"/>
                        </a:rPr>
                        <a:t>Not verified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Aptos"/>
                        </a:rPr>
                        <a:t>Trait-model AUC / robustness</a:t>
                      </a:r>
                    </a:p>
                  </a:txBody>
                  <a:tcPr marL="82296" marR="64008"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Aptos"/>
                        </a:rPr>
                        <a:t>Earlier reported values lack reproducible fold/config receipt</a:t>
                      </a:r>
                    </a:p>
                  </a:txBody>
                  <a:tcPr marL="82296" marR="64008"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Aptos"/>
                        </a:rPr>
                        <a:t>Not independently reproduced</a:t>
                      </a:r>
                    </a:p>
                  </a:txBody>
                  <a:tcPr marL="82296" marR="64008" marT="36576" marB="36576" anchor="ctr">
                    <a:solidFill>
                      <a:srgbClr val="F3F6F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Aptos"/>
                        </a:rPr>
                        <a:t>Skill extraction precision / recall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Aptos"/>
                        </a:rPr>
                        <a:t>Needs reviewed held-out labels; `...` export marker unresolved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Aptos"/>
                        </a:rPr>
                        <a:t>Pending</a:t>
                      </a:r>
                    </a:p>
                  </a:txBody>
                  <a:tcPr marL="82296" marR="64008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Aptos"/>
                        </a:rPr>
                        <a:t>Training or employment impact</a:t>
                      </a:r>
                    </a:p>
                  </a:txBody>
                  <a:tcPr marL="82296" marR="64008"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Aptos"/>
                        </a:rPr>
                        <a:t>No participant pilot or outcome follow-up yet</a:t>
                      </a:r>
                    </a:p>
                  </a:txBody>
                  <a:tcPr marL="82296" marR="64008" marT="36576" marB="36576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C2430"/>
                          </a:solidFill>
                          <a:latin typeface="Aptos"/>
                        </a:rPr>
                        <a:t>Not measured</a:t>
                      </a:r>
                    </a:p>
                  </a:txBody>
                  <a:tcPr marL="82296" marR="64008" marT="36576" marB="36576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6080760"/>
            <a:ext cx="10378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A7E968"/>
                </a:solidFill>
                <a:latin typeface="Aptos"/>
              </a:rPr>
              <a:t>Next: reconcile in VFL, review the skill sample, register scenarios, and preserve run receipts.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565392"/>
            <a:ext cx="9509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92A0B2"/>
                </a:solidFill>
                <a:latin typeface="Aptos"/>
              </a:rPr>
              <a:t>LIMIT.LESS  ·  POOKIE BLINDERS  ·  TEAM 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47104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92A0B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C6E83"/>
                </a:solidFill>
                <a:latin typeface="Aptos"/>
              </a:rPr>
              <a:t>12 · REFERENCES &amp;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10642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C2430"/>
                </a:solidFill>
                <a:latin typeface="Aptos"/>
              </a:rPr>
              <a:t>A careful dataset analysis can still drive a useful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97864"/>
            <a:ext cx="1097280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6E7E"/>
                </a:solidFill>
                <a:latin typeface="Aptos"/>
              </a:rPr>
              <a:t>Limit.less turns mixed-quality evidence into transparent, reviewable training investigations.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0292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73152" cy="3566160"/>
          </a:xfrm>
          <a:prstGeom prst="rect">
            <a:avLst/>
          </a:prstGeom>
          <a:solidFill>
            <a:srgbClr val="82B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1993392"/>
            <a:ext cx="46085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430"/>
                </a:solidFill>
                <a:latin typeface="Aptos"/>
              </a:rPr>
              <a:t>Research basis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432304"/>
            <a:ext cx="4608576" cy="2852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E7E"/>
                </a:solidFill>
                <a:latin typeface="Aptos"/>
              </a:rPr>
              <a:t>• SkillSpan — skill extraction benchmark
• Cedefop Skills-OVATE — existing skills intelligence
• Sentence-BERT — semantic candidate retrieval
• Cawley &amp; Talbot — model-selection bias
• OECD — representativeness of online postings
• Specification-curve analysis — assumption sensitivity
Full citations and URLs are in the accompanying Round 2 report.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50292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828800"/>
            <a:ext cx="73152" cy="3566160"/>
          </a:xfrm>
          <a:prstGeom prst="rect">
            <a:avLst/>
          </a:prstGeom>
          <a:solidFill>
            <a:srgbClr val="A7E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993392"/>
            <a:ext cx="460857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C2430"/>
                </a:solidFill>
                <a:latin typeface="Aptos"/>
              </a:rPr>
              <a:t>The decision we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608576" cy="2852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F6E7E"/>
                </a:solidFill>
                <a:latin typeface="Aptos"/>
              </a:rPr>
              <a:t>Use the source sample to identify questions worth testing.
Show the denominator.
Stress-test assumptions.
Keep independent datasets separate.
Recommend a pilot only after evidence gates pass.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7233A"/>
                </a:solidFill>
                <a:latin typeface="Aptos"/>
              </a:rPr>
              <a:t>Pookie Blinders  ·  Team 117  ·  Limit.less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65392"/>
            <a:ext cx="9509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290A0"/>
                </a:solidFill>
                <a:latin typeface="Aptos"/>
              </a:rPr>
              <a:t>LIMIT.LESS  ·  POOKIE BLINDERS  ·  TEAM 117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47104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8290A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Limit.less Round 2 Dataset Analysis and Evidence</dc:title>
  <dc:subject>SAS Data Analytics Hackathon · Team Pookie Blinders · Team 117</dc:subject>
  <dc:creator>Pookie Blinders</dc:creator>
  <cp:keywords>Dataset analysis, evidence, SAS, Limit.less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